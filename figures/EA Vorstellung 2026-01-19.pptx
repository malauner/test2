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9" d="100"/>
          <a:sy n="169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2114" y="1885950"/>
            <a:ext cx="59196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Architektur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3740" y="2952750"/>
            <a:ext cx="3896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Frameworks, Tools &amp; Design Patterns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490663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2214563"/>
            <a:ext cx="4219575" cy="747713"/>
          </a:xfrm>
          <a:prstGeom prst="roundRect">
            <a:avLst>
              <a:gd name="adj" fmla="val 611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2214563"/>
            <a:ext cx="0" cy="74771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76250" y="2366963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Frameworks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652713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TOGAF, Zachman, FEAF, Gartner, ArchiMate - Überblick und Details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38675" y="2214563"/>
            <a:ext cx="4219575" cy="747713"/>
          </a:xfrm>
          <a:prstGeom prst="roundRect">
            <a:avLst>
              <a:gd name="adj" fmla="val 611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7725" y="2214563"/>
            <a:ext cx="0" cy="74771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829175" y="2366963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9175" y="2652713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Architect, LeanIX, Archi, ARIS, BiZZdesign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3095625"/>
            <a:ext cx="4219575" cy="747713"/>
          </a:xfrm>
          <a:prstGeom prst="roundRect">
            <a:avLst>
              <a:gd name="adj" fmla="val 611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3095625"/>
            <a:ext cx="0" cy="747713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6250" y="3248025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Driven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3533775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Strategisches &amp; Taktisches Design, Bounded Contexts, Aggregates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38675" y="3095625"/>
            <a:ext cx="4219575" cy="747713"/>
          </a:xfrm>
          <a:prstGeom prst="roundRect">
            <a:avLst>
              <a:gd name="adj" fmla="val 611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3095625"/>
            <a:ext cx="0" cy="747713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29175" y="3248025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9175" y="3533775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&amp; Microservices, Praktische Umsetzung, Best Practices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34479"/>
            <a:ext cx="52075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Enterprise Architektur?</a:t>
            </a:r>
            <a:endParaRPr lang="en-US" sz="2700" dirty="0"/>
          </a:p>
        </p:txBody>
      </p:sp>
      <p:pic>
        <p:nvPicPr>
          <p:cNvPr id="3" name="Image 0" descr="/tmp/rasterized-gradient-dc2c8b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615529"/>
            <a:ext cx="8572500" cy="1226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844129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14350" y="2187029"/>
            <a:ext cx="827760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ganzheitlicher Ansatz zur Gestaltung, Planung und Steuerung der IT-Landschaft eines Unternehmens in Übereinstimmung mit den Geschäftszielen.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750" y="2994571"/>
            <a:ext cx="4210050" cy="1504950"/>
          </a:xfrm>
          <a:prstGeom prst="roundRect">
            <a:avLst>
              <a:gd name="adj" fmla="val 303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3166021"/>
            <a:ext cx="39444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51771"/>
            <a:ext cx="386715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von IT und Business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Reduzierung der Komplexität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Verbesserung der Agilität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48200" y="2994571"/>
            <a:ext cx="4210050" cy="1504950"/>
          </a:xfrm>
          <a:prstGeom prst="roundRect">
            <a:avLst>
              <a:gd name="adj" fmla="val 303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19650" y="3166021"/>
            <a:ext cx="39444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19650" y="3451771"/>
            <a:ext cx="386715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 Entscheidungsgrundlagen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Kostenoptimierung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Risikominimierung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Architektur bildet die Brücke zwischen Strategie und Umsetzung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71463"/>
            <a:ext cx="63247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Enterprise Architecture Frameworks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995363"/>
            <a:ext cx="4219575" cy="1266825"/>
          </a:xfrm>
          <a:prstGeom prst="roundRect">
            <a:avLst>
              <a:gd name="adj" fmla="val 360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009650"/>
            <a:ext cx="4219575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38150" y="1176338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8150" y="1481138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Group Architecture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150" y="1709738"/>
            <a:ext cx="39930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Umfassendes Framework mit ADM-Zyklus. Standard für EA-Methodik mit detaillierten Prozessen und Best Practices.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38675" y="995363"/>
            <a:ext cx="4219575" cy="1266825"/>
          </a:xfrm>
          <a:prstGeom prst="roundRect">
            <a:avLst>
              <a:gd name="adj" fmla="val 360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8675" y="1009650"/>
            <a:ext cx="4219575" cy="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91075" y="1176338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Zachman Framework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91075" y="1481138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Ontologie-basierter Ansatz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91075" y="1709738"/>
            <a:ext cx="39930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6x6 Matrix zur Klassifikation von Artefakten. Fokus auf verschiedene Perspektiven (Was, Wie, Wo, Wer, Wann, Warum).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5750" y="2395538"/>
            <a:ext cx="4219575" cy="1266825"/>
          </a:xfrm>
          <a:prstGeom prst="roundRect">
            <a:avLst>
              <a:gd name="adj" fmla="val 360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85750" y="2409825"/>
            <a:ext cx="4219575" cy="0"/>
          </a:xfrm>
          <a:prstGeom prst="line">
            <a:avLst/>
          </a:prstGeom>
          <a:noFill/>
          <a:ln w="28575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38150" y="2576513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150" y="2881313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Enterprise Architecture Framework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150" y="3109913"/>
            <a:ext cx="39930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US-Regierungs-Framework mit Fokus auf Geschäfts-, Daten-, Applikations- und Technologie-Architektur.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38675" y="2395538"/>
            <a:ext cx="4219575" cy="1266825"/>
          </a:xfrm>
          <a:prstGeom prst="roundRect">
            <a:avLst>
              <a:gd name="adj" fmla="val 360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38675" y="2409825"/>
            <a:ext cx="4219575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791075" y="2576513"/>
            <a:ext cx="3993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EA Framework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91075" y="2881313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Praxis-orientierter Ansatz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91075" y="3109913"/>
            <a:ext cx="39930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Business-getrieben mit Fokus auf Wertschöpfung. Betont kontinuierliche Verbesserung und pragmatische Umsetzung.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5750" y="3795713"/>
            <a:ext cx="8572500" cy="1266825"/>
          </a:xfrm>
          <a:prstGeom prst="roundRect">
            <a:avLst>
              <a:gd name="adj" fmla="val 360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85750" y="3810000"/>
            <a:ext cx="8572500" cy="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150" y="3976687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8150" y="4281488"/>
            <a:ext cx="84330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Group Standard für EA-Modellierung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150" y="4510088"/>
            <a:ext cx="84330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 Modellierungssprache für EA. Definiert Notation und Semantik für Business-, Application- und Technology-Layer mit klaren Beziehungen.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85800"/>
            <a:ext cx="84039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 - The Open Group Architecture Framework</a:t>
            </a:r>
            <a:endParaRPr lang="en-US" sz="2700" dirty="0"/>
          </a:p>
        </p:txBody>
      </p:sp>
      <p:pic>
        <p:nvPicPr>
          <p:cNvPr id="3" name="Image 0" descr="/tmp/rasterized-gradient-c35b3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409700"/>
            <a:ext cx="85725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150" y="1562100"/>
            <a:ext cx="8433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Development Method (ADM)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8150" y="1847850"/>
            <a:ext cx="84330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Iterativer Prozess mit 8 Phasen zur Entwicklung und Verwaltung von Enterprise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" y="2305050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241935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Phase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0050" y="259080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&amp; Prinzipien etablieren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181350" y="2305050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95650" y="241935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A: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95650" y="259080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Vision definieren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76950" y="2305050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91250" y="241935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B-D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91250" y="259080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Business, IS, Tech Architecture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85750" y="2952750"/>
            <a:ext cx="4229100" cy="1695450"/>
          </a:xfrm>
          <a:prstGeom prst="roundRect">
            <a:avLst>
              <a:gd name="adj" fmla="val 26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4800" y="2952750"/>
            <a:ext cx="0" cy="16954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57200" y="30861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Kernkomponenten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333750"/>
            <a:ext cx="3924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Repository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Content Framework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Continuum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Capability Framework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629150" y="2952750"/>
            <a:ext cx="4229100" cy="1695450"/>
          </a:xfrm>
          <a:prstGeom prst="roundRect">
            <a:avLst>
              <a:gd name="adj" fmla="val 26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48200" y="2952750"/>
            <a:ext cx="0" cy="169545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4800600" y="30861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Vorteile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00600" y="3333750"/>
            <a:ext cx="3924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Industriestandard, weit verbreitet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Umfassende Methodik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Flexibel anpassbar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Starke Governance-Unterstützung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 ist der am weitesten verbreitete EA-Framework-Standard weltweit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00249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Zachman Framework</a:t>
            </a:r>
            <a:endParaRPr lang="en-US" sz="2700" dirty="0"/>
          </a:p>
        </p:txBody>
      </p:sp>
      <p:pic>
        <p:nvPicPr>
          <p:cNvPr id="3" name="Image 0" descr="/tmp/rasterized-gradient-322ff8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24149"/>
            <a:ext cx="8572500" cy="712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657499"/>
            <a:ext cx="8471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6×6 Matrix: Perspektiven × Fragen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9100" y="1943249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Ontologie-basiertes Schema zur Klassifikation und Organisation von Enterprise Architecture Artefakten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" y="2350889"/>
            <a:ext cx="4313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Perspektiven (Zeilen)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2617589"/>
            <a:ext cx="4229100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00038" y="2617589"/>
            <a:ext cx="0" cy="298996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390525" y="2693789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(Scope)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85750" y="2973735"/>
            <a:ext cx="4229100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00038" y="2973735"/>
            <a:ext cx="0" cy="298996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90525" y="3049935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(Business Model)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285750" y="3329880"/>
            <a:ext cx="4229100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00038" y="3329880"/>
            <a:ext cx="0" cy="298996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390525" y="3406080"/>
            <a:ext cx="4129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(System Model)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629150" y="2350889"/>
            <a:ext cx="4313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Fragen (Spalten)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29150" y="2617589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86014" y="2693789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Was?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772275" y="2617589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29139" y="2693789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Wie?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29150" y="2973735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86014" y="3049935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Wo?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772275" y="2973735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29139" y="3049935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Wer?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29150" y="3329880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686014" y="3406080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Wann?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772275" y="3329880"/>
            <a:ext cx="2085975" cy="298996"/>
          </a:xfrm>
          <a:prstGeom prst="roundRect">
            <a:avLst>
              <a:gd name="adj" fmla="val 127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29139" y="3406080"/>
            <a:ext cx="1972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Warum?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285750" y="3743176"/>
            <a:ext cx="4229100" cy="790575"/>
          </a:xfrm>
          <a:prstGeom prst="roundRect">
            <a:avLst>
              <a:gd name="adj" fmla="val 578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00050" y="3857476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Charakteristik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00050" y="4105126"/>
            <a:ext cx="40805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Methodik, sondern Taxonomie. Jede Zelle repräsentiert eine einzigartige Perspektive.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629150" y="3743176"/>
            <a:ext cx="4229100" cy="790575"/>
          </a:xfrm>
          <a:prstGeom prst="roundRect">
            <a:avLst>
              <a:gd name="adj" fmla="val 578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743450" y="3857476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Anwendung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743450" y="4105126"/>
            <a:ext cx="4080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Artefakt-Management, Kommunikation mit Stakeholdern, Vollständigkeitscheck.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Zachman bietet eine strukturierte Sicht auf die Komplexität von Unternehmensarchitekturen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71921"/>
            <a:ext cx="6441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FEAF - Federal Enterprise Architecture</a:t>
            </a:r>
            <a:endParaRPr lang="en-US" sz="2700" dirty="0"/>
          </a:p>
        </p:txBody>
      </p:sp>
      <p:pic>
        <p:nvPicPr>
          <p:cNvPr id="3" name="Image 0" descr="/tmp/rasterized-gradient-941664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57721"/>
            <a:ext cx="8572500" cy="551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1172021"/>
            <a:ext cx="85107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US-Regierungs-Framework für EA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400050" y="1358652"/>
            <a:ext cx="851077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für US-Bundesbehörden mit Fokus auf Interoperabilität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85750" y="1704380"/>
            <a:ext cx="4238625" cy="1581150"/>
          </a:xfrm>
          <a:prstGeom prst="roundRect">
            <a:avLst>
              <a:gd name="adj" fmla="val 289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4800" y="1704380"/>
            <a:ext cx="0" cy="15811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38150" y="1818680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Architektur-Domänen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150" y="1990130"/>
            <a:ext cx="3971925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Architecture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Architecture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Architecture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19625" y="1704380"/>
            <a:ext cx="4238625" cy="1581150"/>
          </a:xfrm>
          <a:prstGeom prst="roundRect">
            <a:avLst>
              <a:gd name="adj" fmla="val 289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38675" y="1704380"/>
            <a:ext cx="0" cy="158115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4772025" y="1818680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Referenzmodelle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72025" y="1990130"/>
            <a:ext cx="3971925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Reference (PRM)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Reference (BRM)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Component Ref.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Reference (TRM)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85750" y="3380780"/>
            <a:ext cx="4238625" cy="971550"/>
          </a:xfrm>
          <a:prstGeom prst="roundRect">
            <a:avLst>
              <a:gd name="adj" fmla="val 470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0050" y="3495080"/>
            <a:ext cx="4090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Hauptmerkmale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0050" y="3666530"/>
            <a:ext cx="4010025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auf Compliance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Standardisierte Referenzmodelle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19625" y="3380780"/>
            <a:ext cx="4238625" cy="971550"/>
          </a:xfrm>
          <a:prstGeom prst="roundRect">
            <a:avLst>
              <a:gd name="adj" fmla="val 470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33925" y="3495080"/>
            <a:ext cx="4090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Einsatzgebiete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33925" y="3666530"/>
            <a:ext cx="4010025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Behörden &amp; Verwaltung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Regulierte Industrien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FEAF eignet sich besonders für Organisationen mit hohen Compliance-Anforderungen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20030"/>
            <a:ext cx="71991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Enterprise Architecture Framework</a:t>
            </a:r>
            <a:endParaRPr lang="en-US" sz="2700" dirty="0"/>
          </a:p>
        </p:txBody>
      </p:sp>
      <p:pic>
        <p:nvPicPr>
          <p:cNvPr id="3" name="Image 0" descr="/tmp/rasterized-gradient-47c46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443930"/>
            <a:ext cx="8572500" cy="712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577280"/>
            <a:ext cx="8471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Business-getriebener, pragmatischer Ansatz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9100" y="186303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auf Business Value und kontinuierliche Verbesserung statt perfekter Planung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" y="2270671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0038" y="2270671"/>
            <a:ext cx="0" cy="5334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28625" y="238497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255642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IT-Strategie aus Business-Zielen ableiten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181350" y="2270671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195638" y="2270671"/>
            <a:ext cx="0" cy="53340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324225" y="238497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24225" y="255642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Messbarer Business-Mehrwert im Fokus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76950" y="2270671"/>
            <a:ext cx="2781300" cy="533400"/>
          </a:xfrm>
          <a:prstGeom prst="roundRect">
            <a:avLst>
              <a:gd name="adj" fmla="val 85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91238" y="2270671"/>
            <a:ext cx="0" cy="533400"/>
          </a:xfrm>
          <a:prstGeom prst="line">
            <a:avLst/>
          </a:prstGeom>
          <a:noFill/>
          <a:ln w="28575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219825" y="238497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Execution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9825" y="2556421"/>
            <a:ext cx="257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Iterative, inkrementelle Umsetzung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85750" y="2918371"/>
            <a:ext cx="4229100" cy="1695450"/>
          </a:xfrm>
          <a:prstGeom prst="roundRect">
            <a:avLst>
              <a:gd name="adj" fmla="val 26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19100" y="3051721"/>
            <a:ext cx="40416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Kernprinzipien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9100" y="3299371"/>
            <a:ext cx="39624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Value-orientiert statt dokumenten-orientiert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 over Perfect Plans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Architecture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Governance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629150" y="2918371"/>
            <a:ext cx="4229100" cy="1695450"/>
          </a:xfrm>
          <a:prstGeom prst="roundRect">
            <a:avLst>
              <a:gd name="adj" fmla="val 26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62500" y="3051721"/>
            <a:ext cx="40416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62500" y="3299371"/>
            <a:ext cx="39624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als Strategieberatung positionieren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Capability Modeling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Radar &amp; Trend Scouting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Debt Management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betont Pragmatismus und schnelle Wertschöpfung über theoretische Perfektion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86680"/>
            <a:ext cx="62859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 - EA Modellierungssprache</a:t>
            </a:r>
            <a:endParaRPr lang="en-US" sz="2700" dirty="0"/>
          </a:p>
        </p:txBody>
      </p:sp>
      <p:pic>
        <p:nvPicPr>
          <p:cNvPr id="3" name="Image 0" descr="/tmp/rasterized-gradient-23a2c7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10580"/>
            <a:ext cx="8572500" cy="712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443930"/>
            <a:ext cx="8471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 für EA-Visualisierung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9100" y="172968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für Enterprise Architecture - standardisierte Notation für Architektur-Modelle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" y="2137321"/>
            <a:ext cx="2781300" cy="5715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9100" y="227067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9100" y="244212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Actors, Roles, Processes, Services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181350" y="2137321"/>
            <a:ext cx="2781300" cy="5715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14700" y="227067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14700" y="244212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Interfaces, Data Objects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76950" y="2137321"/>
            <a:ext cx="2781300" cy="5715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10300" y="227067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Layer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10300" y="2442121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Nodes, Devices, System Software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85750" y="2823121"/>
            <a:ext cx="2781300" cy="1352550"/>
          </a:xfrm>
          <a:prstGeom prst="roundRect">
            <a:avLst>
              <a:gd name="adj" fmla="val 338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0050" y="2937421"/>
            <a:ext cx="2603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Beziehungstypen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00050" y="3185071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(Composition)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(Serving, Flow)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(Triggering)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181350" y="2823121"/>
            <a:ext cx="2781300" cy="1352550"/>
          </a:xfrm>
          <a:prstGeom prst="roundRect">
            <a:avLst>
              <a:gd name="adj" fmla="val 338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95650" y="2937421"/>
            <a:ext cx="2603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95650" y="3185071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Stakeholder-Sichten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Realization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Cooperation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076950" y="2823121"/>
            <a:ext cx="2781300" cy="1352550"/>
          </a:xfrm>
          <a:prstGeom prst="roundRect">
            <a:avLst>
              <a:gd name="adj" fmla="val 338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191250" y="2937421"/>
            <a:ext cx="2603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Tool-Support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91250" y="3185071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 (Open Source)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BiZZdesign Studio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Sparx EA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 ermöglicht eindeutige Kommunikation zwischen allen EA-Stakeholdern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71588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Framework-Vergleich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Wahl des Frameworks hängt von Organisationsgröße, Reifegrad und Zielen 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50553"/>
            <a:ext cx="51783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Enterprise Architecture Tools</a:t>
            </a:r>
            <a:endParaRPr lang="en-US" sz="2700" dirty="0"/>
          </a:p>
        </p:txBody>
      </p:sp>
      <p:pic>
        <p:nvPicPr>
          <p:cNvPr id="3" name="Image 0" descr="/tmp/rasterized-gradient-dd055f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74453"/>
            <a:ext cx="4229100" cy="893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707803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Sparx Enterprise Architect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9100" y="1964978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&amp; EA Modellierung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9100" y="2174528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mit UML, BPMN, SysML. Stark in technischer Dokumentation.</a:t>
            </a:r>
            <a:endParaRPr lang="en-US" sz="900" dirty="0"/>
          </a:p>
        </p:txBody>
      </p:sp>
      <p:pic>
        <p:nvPicPr>
          <p:cNvPr id="7" name="Image 1" descr="/tmp/rasterized-gradient-83107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574453"/>
            <a:ext cx="4229100" cy="8934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62500" y="1707803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BiZZdesign Enterprise Studio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762500" y="1964978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Kollaborative EA-Plattform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62500" y="2174528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ArchiMate-native mit Fokus auf Business-IT-Alignment.</a:t>
            </a:r>
            <a:endParaRPr lang="en-US" sz="900" dirty="0"/>
          </a:p>
        </p:txBody>
      </p:sp>
      <p:pic>
        <p:nvPicPr>
          <p:cNvPr id="11" name="Image 2" descr="/tmp/rasterized-gradient-8ddfc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582168"/>
            <a:ext cx="4229100" cy="8934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9100" y="2715518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LeanIX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9100" y="2972693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Cloud-basierte SaaS-Lösung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19100" y="3182243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und kollaborativ. Fokus auf Application Portfolio Management.</a:t>
            </a:r>
            <a:endParaRPr lang="en-US" sz="900" dirty="0"/>
          </a:p>
        </p:txBody>
      </p:sp>
      <p:pic>
        <p:nvPicPr>
          <p:cNvPr id="15" name="Image 3" descr="/tmp/rasterized-gradient-9fea61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582168"/>
            <a:ext cx="4229100" cy="8934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62500" y="2715518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62500" y="2972693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ArchiMate Tool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62500" y="3182243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Kostenfreies Tool für ArchiMate. Ideal für kleinere Teams.</a:t>
            </a:r>
            <a:endParaRPr lang="en-US" sz="900" dirty="0"/>
          </a:p>
        </p:txBody>
      </p:sp>
      <p:pic>
        <p:nvPicPr>
          <p:cNvPr id="19" name="Image 4" descr="/tmp/rasterized-gradient-3bbe9c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3589883"/>
            <a:ext cx="8572500" cy="8934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9100" y="3723233"/>
            <a:ext cx="8471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 (Software AG)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19100" y="3980408"/>
            <a:ext cx="8471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Architecture Management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19100" y="4189958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Enterprise-Suite mit Fokus auf Business Process Management, Governance, Risk &amp; Compliance.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285750" y="470535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Toolwahl sollte Framework-Unterstützung und Kollaboration berücksichtigen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23900"/>
            <a:ext cx="48286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Driven Design (DDD)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466850"/>
            <a:ext cx="4210050" cy="2819400"/>
          </a:xfrm>
          <a:prstGeom prst="roundRect">
            <a:avLst>
              <a:gd name="adj" fmla="val 162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600200"/>
            <a:ext cx="4022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Strategisches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" y="1885950"/>
            <a:ext cx="394335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98120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4350" y="2209800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Explizite Grenzen um ein konsistentes Domänenmodell. Jeder Context hat eigene Ubiquitous Language.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2724150"/>
            <a:ext cx="394335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81940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Mapping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3048000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Beziehungen zwischen Bounded Contexts (Shared Kernel, Customer/Supplier, etc.).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3562350"/>
            <a:ext cx="39433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65760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Ubiquitous Language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4350" y="388620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Sprache zwischen Entwicklern und Domänen-Experten.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8200" y="1466850"/>
            <a:ext cx="4210050" cy="3143250"/>
          </a:xfrm>
          <a:prstGeom prst="roundRect">
            <a:avLst>
              <a:gd name="adj" fmla="val 145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1600200"/>
            <a:ext cx="4022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Taktisches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1550" y="1885950"/>
            <a:ext cx="39433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198120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6800" y="220980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Objekte mit eindeutiger Identität über ihren Lebenszyklus hinweg.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81550" y="2552700"/>
            <a:ext cx="39433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64795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Objects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6800" y="287655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Objekte ohne konzeptionelle Identität, definiert durch Attribute.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1550" y="3219450"/>
            <a:ext cx="39433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800" y="331470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76800" y="354330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von Objekten mit einer Aggregate Root als Einstiegspunkt.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1550" y="3886200"/>
            <a:ext cx="3943350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6800" y="3981450"/>
            <a:ext cx="38279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&amp; Services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6800" y="421005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Datenzugriff und domänenlogische Operationen.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hilft bei der Strukturierung komplexer Domänen und fördert gemeinsames Verständnis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46224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Architektur</a:t>
            </a:r>
            <a:endParaRPr lang="en-US" sz="2700" dirty="0"/>
          </a:p>
        </p:txBody>
      </p:sp>
      <p:pic>
        <p:nvPicPr>
          <p:cNvPr id="3" name="Image 0" descr="/tmp/rasterized-gradient-2314a5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08224"/>
            <a:ext cx="8572500" cy="1212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150" y="1660624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Kernprinzipien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8150" y="2022574"/>
            <a:ext cx="2692301" cy="545753"/>
          </a:xfrm>
          <a:prstGeom prst="roundRect">
            <a:avLst>
              <a:gd name="adj" fmla="val 6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2117824"/>
            <a:ext cx="25518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2336899"/>
            <a:ext cx="255183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Unabhängige Entwicklung &amp; Deployment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225701" y="2022574"/>
            <a:ext cx="2692450" cy="545753"/>
          </a:xfrm>
          <a:prstGeom prst="roundRect">
            <a:avLst>
              <a:gd name="adj" fmla="val 6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20951" y="2117824"/>
            <a:ext cx="25519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Skalierbarkeit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20951" y="2336899"/>
            <a:ext cx="2551989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Horizontale Skalierung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013400" y="2022574"/>
            <a:ext cx="2692301" cy="545753"/>
          </a:xfrm>
          <a:prstGeom prst="roundRect">
            <a:avLst>
              <a:gd name="adj" fmla="val 6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08650" y="2117824"/>
            <a:ext cx="25518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8650" y="2336899"/>
            <a:ext cx="255183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Isolierte Fehler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85750" y="2854077"/>
            <a:ext cx="4219575" cy="1733550"/>
          </a:xfrm>
          <a:prstGeom prst="roundRect">
            <a:avLst>
              <a:gd name="adj" fmla="val 263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04800" y="2854077"/>
            <a:ext cx="0" cy="17335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457200" y="2987427"/>
            <a:ext cx="3993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Charakteristika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273177"/>
            <a:ext cx="39147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Kopplung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API-basiert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Polyglotte Persistenz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38675" y="2854077"/>
            <a:ext cx="4219575" cy="1733550"/>
          </a:xfrm>
          <a:prstGeom prst="roundRect">
            <a:avLst>
              <a:gd name="adj" fmla="val 263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57725" y="2854077"/>
            <a:ext cx="0" cy="173355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4810125" y="2987427"/>
            <a:ext cx="3993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10125" y="3273177"/>
            <a:ext cx="39147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Verteilte Komplexität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Transaktionen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Debugging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Consistency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ermöglichen agile Entwicklung und technologische Flexibilität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26678"/>
            <a:ext cx="70923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❤️ Microservices: Der perfekte Match</a:t>
            </a:r>
            <a:endParaRPr lang="en-US" sz="2700" dirty="0"/>
          </a:p>
        </p:txBody>
      </p:sp>
      <p:pic>
        <p:nvPicPr>
          <p:cNvPr id="3" name="Image 0" descr="/tmp/rasterized-gradient-5c0eb3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69628"/>
            <a:ext cx="3943350" cy="1461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1196" y="124107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21196" y="1603028"/>
            <a:ext cx="367245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21196" y="2159198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Logische Domänengrenzen mit einheitlicher Sprache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19600" y="158680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pic>
        <p:nvPicPr>
          <p:cNvPr id="8" name="Image 1" descr="/tmp/rasterized-gradient-abc009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069628"/>
            <a:ext cx="3943350" cy="14610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50346" y="124107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050346" y="1603028"/>
            <a:ext cx="367245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5050346" y="2159198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Implementierung der Domänengrenzen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85750" y="2683073"/>
            <a:ext cx="8572500" cy="2209800"/>
          </a:xfrm>
          <a:prstGeom prst="roundRect">
            <a:avLst>
              <a:gd name="adj" fmla="val 206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2854523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DDD und Microservices zusammenpassen: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178373"/>
            <a:ext cx="40576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71488" y="3178373"/>
            <a:ext cx="0" cy="6286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2"/>
          <p:cNvSpPr/>
          <p:nvPr/>
        </p:nvSpPr>
        <p:spPr>
          <a:xfrm>
            <a:off x="600075" y="3292673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Service-Grenzen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0075" y="3521273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Contexts definieren natürliche Microservice-Grenzen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29150" y="3178373"/>
            <a:ext cx="405765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643438" y="3178373"/>
            <a:ext cx="0" cy="62865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6"/>
          <p:cNvSpPr/>
          <p:nvPr/>
        </p:nvSpPr>
        <p:spPr>
          <a:xfrm>
            <a:off x="4772025" y="3292673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 Teams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772025" y="3521273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Context/Service kann von einem dedizierten Team betreut werden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" y="3921323"/>
            <a:ext cx="4057650" cy="8001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471488" y="3921323"/>
            <a:ext cx="0" cy="8001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/>
          <p:nvPr/>
        </p:nvSpPr>
        <p:spPr>
          <a:xfrm>
            <a:off x="600075" y="4035623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Kopplung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00075" y="4264223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Maps zeigen Beziehungen und Abhängigkeiten zwischen Services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629150" y="3921323"/>
            <a:ext cx="4057650" cy="8001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4643438" y="3921323"/>
            <a:ext cx="0" cy="80010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4"/>
          <p:cNvSpPr/>
          <p:nvPr/>
        </p:nvSpPr>
        <p:spPr>
          <a:xfrm>
            <a:off x="4772025" y="4035623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Fachliche Kohäsion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772025" y="4264223"/>
            <a:ext cx="38764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basieren auf Business-Capabilities, nicht auf technischen Schichten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liefert das strategische Design, Microservices die technische Umsetzung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00236"/>
            <a:ext cx="83747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DDD zu Microservices: Praktische Umsetzung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443186"/>
            <a:ext cx="571500" cy="546646"/>
          </a:xfrm>
          <a:prstGeom prst="roundRect">
            <a:avLst>
              <a:gd name="adj" fmla="val 836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726" y="159647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0600" y="1443186"/>
            <a:ext cx="7867650" cy="546646"/>
          </a:xfrm>
          <a:prstGeom prst="roundRect">
            <a:avLst>
              <a:gd name="adj" fmla="val 8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4900" y="1557486"/>
            <a:ext cx="7791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Domänenanalyse durchführen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04900" y="1728936"/>
            <a:ext cx="7791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Storming, Domain Experts befragen, Bounded Contexts identifizieren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2104132"/>
            <a:ext cx="571500" cy="546646"/>
          </a:xfrm>
          <a:prstGeom prst="roundRect">
            <a:avLst>
              <a:gd name="adj" fmla="val 836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3726" y="2257425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104132"/>
            <a:ext cx="7867650" cy="546646"/>
          </a:xfrm>
          <a:prstGeom prst="roundRect">
            <a:avLst>
              <a:gd name="adj" fmla="val 8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2218432"/>
            <a:ext cx="7791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Mapping erstellen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04900" y="2389882"/>
            <a:ext cx="7791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Beziehungen zwischen Contexts definieren (Upstream/Downstream, etc.)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85750" y="2765078"/>
            <a:ext cx="571500" cy="546646"/>
          </a:xfrm>
          <a:prstGeom prst="roundRect">
            <a:avLst>
              <a:gd name="adj" fmla="val 836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3726" y="2918371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600" y="2765078"/>
            <a:ext cx="7867650" cy="546646"/>
          </a:xfrm>
          <a:prstGeom prst="roundRect">
            <a:avLst>
              <a:gd name="adj" fmla="val 8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04900" y="2879378"/>
            <a:ext cx="7791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&amp; Service Boundaries definieren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04900" y="3050828"/>
            <a:ext cx="7791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als Basis für API-Design nutzen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85750" y="3426023"/>
            <a:ext cx="571500" cy="546646"/>
          </a:xfrm>
          <a:prstGeom prst="roundRect">
            <a:avLst>
              <a:gd name="adj" fmla="val 8364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726" y="357931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90600" y="3426023"/>
            <a:ext cx="7867650" cy="546646"/>
          </a:xfrm>
          <a:prstGeom prst="roundRect">
            <a:avLst>
              <a:gd name="adj" fmla="val 8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04900" y="3540323"/>
            <a:ext cx="7791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 pro Bounded Context implementieren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04900" y="3711773"/>
            <a:ext cx="7791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Mapping als Ausgangspunkt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85750" y="4086969"/>
            <a:ext cx="571500" cy="546646"/>
          </a:xfrm>
          <a:prstGeom prst="roundRect">
            <a:avLst>
              <a:gd name="adj" fmla="val 8364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3726" y="4240262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90600" y="4086969"/>
            <a:ext cx="7867650" cy="546646"/>
          </a:xfrm>
          <a:prstGeom prst="roundRect">
            <a:avLst>
              <a:gd name="adj" fmla="val 836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04900" y="4201269"/>
            <a:ext cx="7791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API-Design &amp; Integration Patterns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104900" y="4372719"/>
            <a:ext cx="7791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REST/gRPC für Sync, Events für Async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5750" y="46863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domain, let technology follow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28650"/>
            <a:ext cx="611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Herausforderungen</a:t>
            </a:r>
            <a:endParaRPr lang="en-US" sz="2700" dirty="0"/>
          </a:p>
        </p:txBody>
      </p:sp>
      <p:pic>
        <p:nvPicPr>
          <p:cNvPr id="3" name="Image 0" descr="/tmp/rasterized-gradient-82b80c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71600"/>
            <a:ext cx="4200525" cy="3333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193" y="152400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Practices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8150" y="19050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20002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Think Big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22288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Pilotprojekt beginnen, Erfahrungen sammeln, dann skalieren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38150" y="25908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26860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Architecture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3400" y="29146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ist kein einmaliges Projekt, sondern kontinuierlicher Prozess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150" y="32766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33400" y="33718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First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3400" y="36004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Logging, Tracing von Anfang an einplanen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8150" y="39624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3400" y="40576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as Code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3400" y="42862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 (ADR), C4-Diagramme versionieren</a:t>
            </a:r>
            <a:endParaRPr lang="en-US" sz="900" dirty="0"/>
          </a:p>
        </p:txBody>
      </p:sp>
      <p:pic>
        <p:nvPicPr>
          <p:cNvPr id="17" name="Image 1" descr="/tmp/rasterized-gradient-3c0c8d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1371600"/>
            <a:ext cx="4200525" cy="33337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71168" y="152400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Herausforderungen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10125" y="19050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905375" y="20002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Organisatorischer Wandel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05375" y="22288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Conway's Law beachten - Teams müssen zur Architektur passen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10125" y="25908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905375" y="26860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Schulden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05375" y="29146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Legacy-Systeme migrieren oder integrieren - graduelle Modernisierung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810125" y="32766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905375" y="33718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905375" y="36004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Verteilte Daten konsistent halten, DSGVO-Compliance sicherstellen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810125" y="3962400"/>
            <a:ext cx="38957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05375" y="4057650"/>
            <a:ext cx="3779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905375" y="4286250"/>
            <a:ext cx="377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benötigen Training in DDD, DevOps und Cloud-native Patterns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85750" y="4762500"/>
            <a:ext cx="874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Erfolgreiche EA-Transformation erfordert technische Exzellenz UND organisatorische Veränderung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61950"/>
            <a:ext cx="50812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Zusammenfassung &amp; Ausblick</a:t>
            </a:r>
            <a:endParaRPr lang="en-US" sz="2700" dirty="0"/>
          </a:p>
        </p:txBody>
      </p:sp>
      <p:pic>
        <p:nvPicPr>
          <p:cNvPr id="3" name="Image 0" descr="/tmp/rasterized-gradient-596f8c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85850"/>
            <a:ext cx="8572500" cy="1790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150" y="1238250"/>
            <a:ext cx="8433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8150" y="1543050"/>
            <a:ext cx="82677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EA-Frameworks bieten strukturierte Ansätze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 Tools unterstützen Kollaboration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als strategisches Design-Fundament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Contexts als Service-Grenzen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85750" y="3009900"/>
            <a:ext cx="4219575" cy="1390650"/>
          </a:xfrm>
          <a:prstGeom prst="roundRect">
            <a:avLst>
              <a:gd name="adj" fmla="val 328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4800" y="3009900"/>
            <a:ext cx="0" cy="13906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57200" y="31432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3390900"/>
            <a:ext cx="391477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Framework-Evaluation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Tool-Auswahl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Pilotprojekt DDD &amp; Microservices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38675" y="3009900"/>
            <a:ext cx="4219575" cy="1390650"/>
          </a:xfrm>
          <a:prstGeom prst="roundRect">
            <a:avLst>
              <a:gd name="adj" fmla="val 328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57725" y="3009900"/>
            <a:ext cx="0" cy="139065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4810125" y="31432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Weiterführende Themen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10125" y="3390900"/>
            <a:ext cx="391477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Patterns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00500" y="4553421"/>
            <a:ext cx="1143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-91440" y="4705821"/>
            <a:ext cx="9326880" cy="266700"/>
          </a:xfrm>
          <a:prstGeom prst="rect">
            <a:avLst/>
          </a:prstGeom>
          <a:noFill/>
          <a:ln/>
        </p:spPr>
        <p:txBody>
          <a:bodyPr wrap="square" lIns="285750" tIns="0" rIns="28575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Dank!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5547" y="1314450"/>
            <a:ext cx="23955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</a:t>
            </a:r>
            <a:r>
              <a:rPr lang="en-US" sz="4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000351" y="2190750"/>
            <a:ext cx="1143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49547" y="2533650"/>
            <a:ext cx="38447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 für Ihre Aufmerksamkeit!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67006" y="3333750"/>
            <a:ext cx="3809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&amp; Ressourcen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7006" y="3638550"/>
            <a:ext cx="3809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· Domain Driven Design · Microservices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Macintosh PowerPoint</Application>
  <PresentationFormat>Bildschirmpräsentation (16:9)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Enterprise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Architektur - Detailliert</dc:title>
  <dc:subject>EA Frameworks, Tools &amp; Design Patterns - Erweitert</dc:subject>
  <dc:creator>Claude AI</dc:creator>
  <cp:lastModifiedBy>Christian Hirschle</cp:lastModifiedBy>
  <cp:revision>2</cp:revision>
  <dcterms:created xsi:type="dcterms:W3CDTF">2025-12-26T15:37:05Z</dcterms:created>
  <dcterms:modified xsi:type="dcterms:W3CDTF">2026-03-01T20:22:39Z</dcterms:modified>
</cp:coreProperties>
</file>